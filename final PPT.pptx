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  <p:sldId id="267" r:id="rId10"/>
    <p:sldId id="268" r:id="rId11"/>
    <p:sldId id="269" r:id="rId12"/>
    <p:sldId id="270" r:id="rId13"/>
    <p:sldId id="272" r:id="rId14"/>
    <p:sldId id="273" r:id="rId15"/>
    <p:sldId id="27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8A3E"/>
                </a:solidFill>
                <a:latin typeface="Times New Roman"/>
              </a:rPr>
              <a:t>MSc DISSERTATION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05840"/>
            <a:ext cx="11064240" cy="0"/>
          </a:xfrm>
          <a:prstGeom prst="line">
            <a:avLst/>
          </a:prstGeom>
          <a:ln w="12700">
            <a:solidFill>
              <a:srgbClr val="B88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2103120"/>
            <a:ext cx="11064240" cy="25545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FFFFFF"/>
                </a:solidFill>
                <a:latin typeface="Times New Roman"/>
              </a:rPr>
              <a:t>Short and Long Term Predictions of Emergency</a:t>
            </a:r>
          </a:p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Times New Roman"/>
              </a:rPr>
              <a:t>Department Patient Resources in the</a:t>
            </a:r>
          </a:p>
          <a:p>
            <a:pPr algn="ctr">
              <a:lnSpc>
                <a:spcPct val="100000"/>
              </a:lnSpc>
            </a:pPr>
            <a:r>
              <a:rPr lang="en-US" sz="4000" b="1">
                <a:solidFill>
                  <a:srgbClr val="FFFFFF"/>
                </a:solidFill>
                <a:latin typeface="Times New Roman"/>
              </a:rPr>
              <a:t>Irish Health Sector</a:t>
            </a:r>
          </a:p>
          <a:p>
            <a:pPr algn="ctr">
              <a:lnSpc>
                <a:spcPct val="100000"/>
              </a:lnSpc>
            </a:pPr>
            <a:endParaRPr sz="4000" b="1" i="0" dirty="0">
              <a:solidFill>
                <a:srgbClr val="FFFFFF"/>
              </a:solidFill>
              <a:latin typeface="Times New Roman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5852160"/>
            <a:ext cx="11064240" cy="0"/>
          </a:xfrm>
          <a:prstGeom prst="line">
            <a:avLst/>
          </a:prstGeom>
          <a:ln w="12700">
            <a:solidFill>
              <a:srgbClr val="B88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Times New Roman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Times New Roman"/>
              </a:rPr>
              <a:t>1 /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21792"/>
            <a:ext cx="11274552" cy="0"/>
          </a:xfrm>
          <a:prstGeom prst="line">
            <a:avLst/>
          </a:prstGeom>
          <a:ln w="1270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7315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Times New Roman"/>
              </a:rPr>
              <a:t>Why forecast trolley numbers?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3931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1B225A"/>
                </a:solidFill>
                <a:latin typeface="Times New Roman"/>
              </a:rPr>
              <a:t>15+ yrs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3931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555555"/>
                </a:solidFill>
                <a:latin typeface="Times New Roman"/>
              </a:rPr>
              <a:t>HSE has published daily Trolley Watch figures since 2006; despite policy interventions numbers have kept rising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3931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B88A3E"/>
                </a:solidFill>
                <a:latin typeface="Times New Roman"/>
              </a:rPr>
              <a:t>882 / 128 / 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34840"/>
            <a:ext cx="3931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555555"/>
                </a:solidFill>
                <a:latin typeface="Times New Roman"/>
              </a:rPr>
              <a:t>daily, weekly and monthly records used for the three AutoML forecasting experiments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554480"/>
            <a:ext cx="6766560" cy="2955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0" i="0" dirty="0">
                <a:solidFill>
                  <a:srgbClr val="1A1A1A"/>
                </a:solidFill>
                <a:latin typeface="Times New Roman"/>
              </a:rPr>
              <a:t>▪  Overcrowding on ED trolleys is linked to longer hospital stays, worse clinical outcomes and heavy staff burden.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0" i="0" dirty="0">
                <a:solidFill>
                  <a:srgbClr val="1A1A1A"/>
                </a:solidFill>
                <a:latin typeface="Times New Roman"/>
              </a:rPr>
              <a:t>▪  Trolley waits are one of the most closely watched indicators of Irish health system performance.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0" i="0" dirty="0">
                <a:solidFill>
                  <a:srgbClr val="1A1A1A"/>
                </a:solidFill>
                <a:latin typeface="Times New Roman"/>
              </a:rPr>
              <a:t>▪  Machine learning has grown rapidly for hospital demand forecasting internationally, but rarely targets the trolley count itself  most studies forecast attendance or admissions instead.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0" i="0" dirty="0">
                <a:solidFill>
                  <a:srgbClr val="1A1A1A"/>
                </a:solidFill>
                <a:latin typeface="Times New Roman"/>
              </a:rPr>
              <a:t>▪  Microsoft Azure AutoML automatically trains, cross-validates and ranks a wide range of forecasting algorithms, lowering the technical barrier to building a forecasting tool.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0" i="0" dirty="0">
                <a:solidFill>
                  <a:srgbClr val="1A1A1A"/>
                </a:solidFill>
                <a:latin typeface="Times New Roman"/>
              </a:rPr>
              <a:t>▪  This thesis applies Azure AutoML directly to HSE's own published trolley data to test how accurately, and at what level of temporal detail, ED trolley numbers can be forecast.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Times New Roman"/>
              </a:rPr>
              <a:t>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Times New Roman"/>
              </a:rPr>
              <a:t>2 /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21792"/>
            <a:ext cx="11274552" cy="0"/>
          </a:xfrm>
          <a:prstGeom prst="line">
            <a:avLst/>
          </a:prstGeom>
          <a:ln w="1270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7315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Times New Roman"/>
              </a:rPr>
              <a:t>Three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274552" cy="914400"/>
          </a:xfrm>
          <a:prstGeom prst="rect">
            <a:avLst/>
          </a:prstGeom>
          <a:solidFill>
            <a:srgbClr val="1B2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ctr"/>
            <a:r>
              <a:rPr sz="1600" b="0" i="1" dirty="0">
                <a:solidFill>
                  <a:srgbClr val="FFFFFF"/>
                </a:solidFill>
                <a:latin typeface="Times New Roman"/>
              </a:rPr>
              <a:t>Can Azure Automated Machine Learning forecast HSE ED trolley numbers accurately, and does the temporal granularity of the data daily, weekly or monthly change what can be trusted?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36118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" y="2889504"/>
            <a:ext cx="502920" cy="502920"/>
          </a:xfrm>
          <a:prstGeom prst="rect">
            <a:avLst/>
          </a:prstGeom>
          <a:solidFill>
            <a:srgbClr val="1B2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71216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Times New Roman"/>
              </a:rPr>
              <a:t>Accuracy (RQ1)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520440"/>
            <a:ext cx="3209544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55555"/>
                </a:solidFill>
                <a:latin typeface="Times New Roman"/>
              </a:rPr>
              <a:t>How accurately can AutoML forecast ED trolleys, benchmarked against Jilani et al. (2019)'s UK ED-attendance study using MAE, RMSE, MAPE and R²?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8536" y="2743200"/>
            <a:ext cx="36118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53128" y="2889504"/>
            <a:ext cx="502920" cy="502920"/>
          </a:xfrm>
          <a:prstGeom prst="rect">
            <a:avLst/>
          </a:prstGeom>
          <a:solidFill>
            <a:srgbClr val="1B2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1496" y="2871216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Times New Roman"/>
              </a:rPr>
              <a:t>Granularity (RQ2)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3520440"/>
            <a:ext cx="3209544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55555"/>
                </a:solidFill>
                <a:latin typeface="Times New Roman"/>
              </a:rPr>
              <a:t>Does training at daily, weekly or monthly aggregation change forecast accuracy and reliability?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9872" y="2743200"/>
            <a:ext cx="36118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84464" y="2889504"/>
            <a:ext cx="502920" cy="502920"/>
          </a:xfrm>
          <a:prstGeom prst="rect">
            <a:avLst/>
          </a:prstGeom>
          <a:solidFill>
            <a:srgbClr val="1B2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2832" y="2871216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Times New Roman"/>
              </a:rPr>
              <a:t>Practical limits (RQ3)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520440"/>
            <a:ext cx="3209544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55555"/>
                </a:solidFill>
                <a:latin typeface="Times New Roman"/>
              </a:rPr>
              <a:t>What limitations affect using an AutoML-selected ensemble for real hospital capacity planning?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Times New Roman"/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Times New Roman"/>
              </a:rPr>
              <a:t>3 /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21792"/>
            <a:ext cx="11274552" cy="0"/>
          </a:xfrm>
          <a:prstGeom prst="line">
            <a:avLst/>
          </a:prstGeom>
          <a:ln w="1270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7315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Times New Roman"/>
              </a:rPr>
              <a:t>The gap in the literature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486400" cy="3209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0" i="0" dirty="0">
                <a:solidFill>
                  <a:srgbClr val="1A1A1A"/>
                </a:solidFill>
                <a:latin typeface="Times New Roman"/>
              </a:rPr>
              <a:t>▪  The Irish trolley crisis is well documented (Lynch et al., 2019; IMO, 2018; HIQA, n.d.) but rarely modelled with formal forecasting methods.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0" i="0" dirty="0">
                <a:solidFill>
                  <a:srgbClr val="1A1A1A"/>
                </a:solidFill>
                <a:latin typeface="Times New Roman"/>
              </a:rPr>
              <a:t>▪  The base study, Jilani et al. (2019), forecast ED attendance across four UK hospitals with a fuzzy time series model, benchmarked against ARIMA and neural networks.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0" i="0" dirty="0">
                <a:solidFill>
                  <a:srgbClr val="1A1A1A"/>
                </a:solidFill>
                <a:latin typeface="Times New Roman"/>
              </a:rPr>
              <a:t>▪  Modern literature has shifted toward gradient-boosted and ensemble methods (XGBoost, LightGBM) which generally outperform classical statistical models such as ARIMA.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0" i="0" dirty="0">
                <a:solidFill>
                  <a:srgbClr val="1A1A1A"/>
                </a:solidFill>
                <a:latin typeface="Times New Roman"/>
              </a:rPr>
              <a:t>▪  Almost every reviewed study forecasts attendance or admissions not the trolley count that drives daily Irish hospital operations.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0" i="0" dirty="0">
                <a:solidFill>
                  <a:srgbClr val="1A1A1A"/>
                </a:solidFill>
                <a:latin typeface="Times New Roman"/>
              </a:rPr>
              <a:t>▪  No comparable Irish study tests daily vs weekly vs monthly granularity side by side.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00200"/>
            <a:ext cx="5468112" cy="4389120"/>
          </a:xfrm>
          <a:prstGeom prst="rect">
            <a:avLst/>
          </a:prstGeom>
          <a:solidFill>
            <a:srgbClr val="1B2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ctr"/>
            <a:r>
              <a:rPr sz="1500" b="0" i="1" dirty="0">
                <a:solidFill>
                  <a:srgbClr val="FFFFFF"/>
                </a:solidFill>
                <a:latin typeface="Times New Roman"/>
              </a:rPr>
              <a:t>This thesis extends the weekday-segmented, multi-model comparative framework of Jilani et al. (2019) to a metric not directly investigated before: HSE trolley waiting numbers in Ireland compared for the first time across daily, weekly and monthly granularity.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Times New Roman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Times New Roman"/>
              </a:rPr>
              <a:t>4 /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21792"/>
            <a:ext cx="11274552" cy="0"/>
          </a:xfrm>
          <a:prstGeom prst="line">
            <a:avLst/>
          </a:prstGeom>
          <a:ln w="1270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7315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Times New Roman"/>
              </a:rPr>
              <a:t>The 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5321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700784"/>
            <a:ext cx="502920" cy="502920"/>
          </a:xfrm>
          <a:prstGeom prst="rect">
            <a:avLst/>
          </a:prstGeom>
          <a:solidFill>
            <a:srgbClr val="1B2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82496"/>
            <a:ext cx="4526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Times New Roman"/>
              </a:rPr>
              <a:t>Quantitative, predictive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31720"/>
            <a:ext cx="512978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55555"/>
                </a:solidFill>
                <a:latin typeface="Times New Roman"/>
              </a:rPr>
              <a:t>Secondary time-series data; ED Trolleys forecast as a continuous regression target, not a classification problem.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554480"/>
            <a:ext cx="55321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64224" y="1700784"/>
            <a:ext cx="502920" cy="502920"/>
          </a:xfrm>
          <a:prstGeom prst="rect">
            <a:avLst/>
          </a:prstGeom>
          <a:solidFill>
            <a:srgbClr val="1B2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2592" y="1682496"/>
            <a:ext cx="4526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Times New Roman"/>
              </a:rPr>
              <a:t>Three granularities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31720"/>
            <a:ext cx="5129784" cy="4521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 dirty="0">
                <a:solidFill>
                  <a:srgbClr val="555555"/>
                </a:solidFill>
                <a:latin typeface="Times New Roman"/>
              </a:rPr>
              <a:t>Independent Azure AutoML experiments at daily, weekly and monthly level  same target, same configuration, different aggregation.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86200"/>
            <a:ext cx="55321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" y="4032504"/>
            <a:ext cx="502920" cy="502920"/>
          </a:xfrm>
          <a:prstGeom prst="rect">
            <a:avLst/>
          </a:prstGeom>
          <a:solidFill>
            <a:srgbClr val="1B2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014216"/>
            <a:ext cx="4526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Times New Roman"/>
              </a:rPr>
              <a:t>Time-aware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663440"/>
            <a:ext cx="512978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55555"/>
                </a:solidFill>
                <a:latin typeface="Times New Roman"/>
              </a:rPr>
              <a:t>Rolling-origin cross-validation; the model is always tested on a period that follows its training data, so no future information leaks 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3886200"/>
            <a:ext cx="55321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64224" y="4032504"/>
            <a:ext cx="502920" cy="502920"/>
          </a:xfrm>
          <a:prstGeom prst="rect">
            <a:avLst/>
          </a:prstGeom>
          <a:solidFill>
            <a:srgbClr val="1B2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2592" y="4014216"/>
            <a:ext cx="4526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Times New Roman"/>
              </a:rPr>
              <a:t>Four accuracy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5129784" cy="4521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 dirty="0">
                <a:solidFill>
                  <a:srgbClr val="555555"/>
                </a:solidFill>
                <a:latin typeface="Times New Roman"/>
              </a:rPr>
              <a:t>MAE, RMSE, MAPE and R², matching the metrics used in the closest published benchmark, Jilani et al. (2019).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3D9F12-41BC-7D57-9533-68539714D1B2}"/>
              </a:ext>
            </a:extLst>
          </p:cNvPr>
          <p:cNvSpPr txBox="1"/>
          <p:nvPr/>
        </p:nvSpPr>
        <p:spPr>
          <a:xfrm>
            <a:off x="3189732" y="6080893"/>
            <a:ext cx="6096000" cy="732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three experiments (daily, weekly, monthly) used Normalized RMSE as the primary metric with 100% sampling; </a:t>
            </a:r>
            <a:r>
              <a:rPr lang="en-US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VotingEnsemble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the best algorithm in every case (job durations 37m to 2h 06m).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Times New Roman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Times New Roman"/>
              </a:rPr>
              <a:t>5 /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21792"/>
            <a:ext cx="11274552" cy="0"/>
          </a:xfrm>
          <a:prstGeom prst="line">
            <a:avLst/>
          </a:prstGeom>
          <a:ln w="1270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7315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Times New Roman"/>
              </a:rPr>
              <a:t>Data and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Times New Roman"/>
              </a:rPr>
              <a:t>HSE Urgent and Emergency Care Report (“TrolleyGAR”)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486400" cy="1124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 i="0" dirty="0">
                <a:solidFill>
                  <a:srgbClr val="1A1A1A"/>
                </a:solidFill>
                <a:latin typeface="Times New Roman"/>
              </a:rPr>
              <a:t>▪  Secondary data only no patient-level records.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 i="0" dirty="0">
                <a:solidFill>
                  <a:srgbClr val="1A1A1A"/>
                </a:solidFill>
                <a:latin typeface="Times New Roman"/>
              </a:rPr>
              <a:t>▪  1 January 2024 to 31 May 2026: 882 daily records, aggregated to 128 weekly and 29 monthly records.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 i="0" dirty="0">
                <a:solidFill>
                  <a:srgbClr val="1A1A1A"/>
                </a:solidFill>
                <a:latin typeface="Times New Roman"/>
              </a:rPr>
              <a:t>▪  Target (Y): ED Trolleys a continuous count, modelled as regression.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77639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Times New Roman"/>
              </a:rPr>
              <a:t>Predictors (X)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43400"/>
            <a:ext cx="5486400" cy="1226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 i="0" dirty="0">
                <a:solidFill>
                  <a:srgbClr val="1A1A1A"/>
                </a:solidFill>
                <a:latin typeface="Times New Roman"/>
              </a:rPr>
              <a:t>▪  Ward Trolleys, Surge Capacity in Use, Delayed Transfers of Care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 i="0" dirty="0">
                <a:solidFill>
                  <a:srgbClr val="1A1A1A"/>
                </a:solidFill>
                <a:latin typeface="Times New Roman"/>
              </a:rPr>
              <a:t>▪  Patients waiting over 24 hours (total, and aged 75+)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 i="0" dirty="0">
                <a:solidFill>
                  <a:srgbClr val="1A1A1A"/>
                </a:solidFill>
                <a:latin typeface="Times New Roman"/>
              </a:rPr>
              <a:t>▪  Calendar features: Year, Month, Week number, Day of week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 i="0" dirty="0">
                <a:solidFill>
                  <a:srgbClr val="1A1A1A"/>
                </a:solidFill>
                <a:latin typeface="Times New Roman"/>
              </a:rPr>
              <a:t>▪  Total (ED + Ward) deliberately excluded including it would leak the target.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5468112" cy="5029200"/>
          </a:xfrm>
          <a:prstGeom prst="rect">
            <a:avLst/>
          </a:prstGeom>
          <a:solidFill>
            <a:srgbClr val="1B2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ctr"/>
            <a:r>
              <a:rPr sz="1500" b="0" i="1">
                <a:solidFill>
                  <a:srgbClr val="FFFFFF"/>
                </a:solidFill>
                <a:latin typeface="Times New Roman"/>
              </a:rPr>
              <a:t>All three experiments use the same predictor set, the same target and the same Azure AutoML configuration. Only the temporal aggregation of the underlying data changes  -  so differences in accuracy across the three granularities can be attributed to the aggregation itself.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Times New Roman"/>
              </a:rPr>
              <a:t>EXPLORATORY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Times New Roman"/>
              </a:rPr>
              <a:t>6 /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21792"/>
            <a:ext cx="11274552" cy="0"/>
          </a:xfrm>
          <a:prstGeom prst="line">
            <a:avLst/>
          </a:prstGeom>
          <a:ln w="1270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7315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Times New Roman"/>
              </a:rPr>
              <a:t>Daily trend and seasonality</a:t>
            </a:r>
          </a:p>
        </p:txBody>
      </p:sp>
      <p:pic>
        <p:nvPicPr>
          <p:cNvPr id="7" name="Picture 6" descr="img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4134465" cy="3566160"/>
          </a:xfrm>
          <a:prstGeom prst="rect">
            <a:avLst/>
          </a:prstGeom>
          <a:ln w="9525">
            <a:solidFill>
              <a:srgbClr val="C9C2B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5029200"/>
            <a:ext cx="70408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 dirty="0">
                <a:solidFill>
                  <a:srgbClr val="555555"/>
                </a:solidFill>
                <a:latin typeface="Times New Roman"/>
              </a:rPr>
              <a:t>Figure 3: ED Trolleys, daily trend, Jan 2024 –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600200"/>
            <a:ext cx="4023360" cy="214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 i="0" dirty="0">
                <a:solidFill>
                  <a:srgbClr val="1A1A1A"/>
                </a:solidFill>
                <a:latin typeface="Times New Roman"/>
              </a:rPr>
              <a:t>▪  Trolleys fluctuate within roughly 50–300 across most of the period.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 i="0" dirty="0">
                <a:solidFill>
                  <a:srgbClr val="1A1A1A"/>
                </a:solidFill>
                <a:latin typeface="Times New Roman"/>
              </a:rPr>
              <a:t>▪  Sharp winter peaks, most visible around January 2025, briefly exceeding 440.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 i="0" dirty="0">
                <a:solidFill>
                  <a:srgbClr val="1A1A1A"/>
                </a:solidFill>
                <a:latin typeface="Times New Roman"/>
              </a:rPr>
              <a:t>▪  Pattern consistent with known seasonal winter pressure on Irish </a:t>
            </a:r>
            <a:r>
              <a:rPr sz="1300" b="0" i="0" dirty="0" err="1">
                <a:solidFill>
                  <a:srgbClr val="1A1A1A"/>
                </a:solidFill>
                <a:latin typeface="Times New Roman"/>
              </a:rPr>
              <a:t>EDs.</a:t>
            </a:r>
            <a:endParaRPr sz="1300" b="0" i="0" dirty="0">
              <a:solidFill>
                <a:srgbClr val="1A1A1A"/>
              </a:solidFill>
              <a:latin typeface="Times New Roman"/>
            </a:endParaRP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 i="0" dirty="0">
                <a:solidFill>
                  <a:srgbClr val="1A1A1A"/>
                </a:solidFill>
                <a:latin typeface="Times New Roman"/>
              </a:rPr>
              <a:t>▪  It is these spikes not the calmer summer months that a forecasting model most needs to anticipate.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0F8C73-2D65-60D4-5010-68E972AC2536}"/>
              </a:ext>
            </a:extLst>
          </p:cNvPr>
          <p:cNvSpPr txBox="1"/>
          <p:nvPr/>
        </p:nvSpPr>
        <p:spPr>
          <a:xfrm>
            <a:off x="5681570" y="5039688"/>
            <a:ext cx="6096000" cy="1515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spcAft>
                <a:spcPts val="1000"/>
              </a:spcAft>
            </a:pP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are consistently highest on Tuesday/Wednesday and lowest at weekends; Surge Capacity in Use rises near-linearly with Total Trolleys, confirming it as a genuine predictor.</a:t>
            </a:r>
          </a:p>
          <a:p>
            <a:pPr algn="just">
              <a:lnSpc>
                <a:spcPct val="105000"/>
              </a:lnSpc>
              <a:spcAft>
                <a:spcPts val="1000"/>
              </a:spcAft>
            </a:pP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is right-skewed with a thin tail of very busy days up to 450; monthly averages peak in January (about 258) and trough in August (about 160), a roughly 100-trolley seasonal swing.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D18FA7-099F-8786-B843-B01DCA4687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00817" y="1463040"/>
            <a:ext cx="3125862" cy="35661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Times New Roman"/>
              </a:rPr>
              <a:t>RESULTS · DAILY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Times New Roman"/>
              </a:rPr>
              <a:t>7 /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21792"/>
            <a:ext cx="11274552" cy="0"/>
          </a:xfrm>
          <a:prstGeom prst="line">
            <a:avLst/>
          </a:prstGeom>
          <a:ln w="1270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7315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Times New Roman"/>
              </a:rPr>
              <a:t>Daily forecasting experiment (RQ1)</a:t>
            </a:r>
          </a:p>
        </p:txBody>
      </p:sp>
      <p:pic>
        <p:nvPicPr>
          <p:cNvPr id="7" name="Picture 6" descr="img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486400" cy="2147492"/>
          </a:xfrm>
          <a:prstGeom prst="rect">
            <a:avLst/>
          </a:prstGeom>
          <a:ln w="9525">
            <a:solidFill>
              <a:srgbClr val="C9C2B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33401" y="3531255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Times New Roman"/>
              </a:rPr>
              <a:t>Figure 9: Daily leaderboard, ranked by normalized RMSE</a:t>
            </a:r>
          </a:p>
        </p:txBody>
      </p:sp>
      <p:pic>
        <p:nvPicPr>
          <p:cNvPr id="9" name="Picture 8" descr="img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577840" cy="2713646"/>
          </a:xfrm>
          <a:prstGeom prst="rect">
            <a:avLst/>
          </a:prstGeom>
          <a:ln w="9525">
            <a:solidFill>
              <a:srgbClr val="C9C2B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324599" y="4176686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 dirty="0">
                <a:solidFill>
                  <a:srgbClr val="555555"/>
                </a:solidFill>
                <a:latin typeface="Times New Roman"/>
              </a:rPr>
              <a:t>Figure 10: Daily forecast vs actual, selected validation fold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794760"/>
          <a:ext cx="5486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>
                    <a:solidFill>
                      <a:srgbClr val="1B22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>
                    <a:solidFill>
                      <a:srgbClr val="1B2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MAE / 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23.63 / 28.30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MAPE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15.08%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0.758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218471" y="4828032"/>
            <a:ext cx="5577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0" i="0" dirty="0">
                <a:solidFill>
                  <a:srgbClr val="1A1A1A"/>
                </a:solidFill>
                <a:latin typeface="Times New Roman"/>
              </a:rPr>
              <a:t>▪  </a:t>
            </a:r>
            <a:r>
              <a:rPr sz="1200" b="0" i="0" dirty="0" err="1">
                <a:solidFill>
                  <a:srgbClr val="1A1A1A"/>
                </a:solidFill>
                <a:latin typeface="Times New Roman"/>
              </a:rPr>
              <a:t>VotingEnsemble</a:t>
            </a:r>
            <a:r>
              <a:rPr sz="1200" b="0" i="0" dirty="0">
                <a:solidFill>
                  <a:srgbClr val="1A1A1A"/>
                </a:solidFill>
                <a:latin typeface="Times New Roman"/>
              </a:rPr>
              <a:t> beat </a:t>
            </a:r>
            <a:r>
              <a:rPr sz="1200" b="0" i="0" dirty="0" err="1">
                <a:solidFill>
                  <a:srgbClr val="1A1A1A"/>
                </a:solidFill>
                <a:latin typeface="Times New Roman"/>
              </a:rPr>
              <a:t>ProphetModel</a:t>
            </a:r>
            <a:r>
              <a:rPr sz="1200" b="0" i="0" dirty="0">
                <a:solidFill>
                  <a:srgbClr val="1A1A1A"/>
                </a:solidFill>
                <a:latin typeface="Times New Roman"/>
              </a:rPr>
              <a:t> (univariate) by ~19% normalized RMSE  -  the HSE pressure predictors add real value.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0" i="0" dirty="0">
                <a:solidFill>
                  <a:srgbClr val="1A1A1A"/>
                </a:solidFill>
                <a:latin typeface="Times New Roman"/>
              </a:rPr>
              <a:t>▪  MAPE (15.08%) sits well above the Jilani et al. daily benchmark of 2.63–4.72%.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0" i="0" dirty="0">
                <a:solidFill>
                  <a:srgbClr val="1A1A1A"/>
                </a:solidFill>
                <a:latin typeface="Times New Roman"/>
              </a:rPr>
              <a:t>▪  Residuals mostly within ±40 trolleys, with larger misses of –80 to –120 around demand spikes (Figure 11).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Times New Roman"/>
              </a:rPr>
              <a:t>RESULTS · WEEKLY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Times New Roman"/>
              </a:rPr>
              <a:t>8 /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21792"/>
            <a:ext cx="11274552" cy="0"/>
          </a:xfrm>
          <a:prstGeom prst="line">
            <a:avLst/>
          </a:prstGeom>
          <a:ln w="1270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7315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Times New Roman"/>
              </a:rPr>
              <a:t>Weekly forecasting experiment</a:t>
            </a:r>
          </a:p>
        </p:txBody>
      </p:sp>
      <p:pic>
        <p:nvPicPr>
          <p:cNvPr id="7" name="Picture 6" descr="img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486400" cy="2122476"/>
          </a:xfrm>
          <a:prstGeom prst="rect">
            <a:avLst/>
          </a:prstGeom>
          <a:ln w="9525">
            <a:solidFill>
              <a:srgbClr val="C9C2B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33401" y="3557311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 dirty="0">
                <a:solidFill>
                  <a:srgbClr val="555555"/>
                </a:solidFill>
                <a:latin typeface="Times New Roman"/>
              </a:rPr>
              <a:t>Figure 12: Weekly leaderboard, ranked by normalized RMSE</a:t>
            </a:r>
          </a:p>
        </p:txBody>
      </p:sp>
      <p:pic>
        <p:nvPicPr>
          <p:cNvPr id="9" name="Picture 8" descr="img_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577840" cy="2749481"/>
          </a:xfrm>
          <a:prstGeom prst="rect">
            <a:avLst/>
          </a:prstGeom>
          <a:ln w="9525">
            <a:solidFill>
              <a:srgbClr val="C9C2B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78727" y="4153527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 dirty="0">
                <a:solidFill>
                  <a:srgbClr val="555555"/>
                </a:solidFill>
                <a:latin typeface="Times New Roman"/>
              </a:rPr>
              <a:t>Figure 13: Weekly forecast vs actual, selected validation fold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794760"/>
          <a:ext cx="5486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>
                    <a:solidFill>
                      <a:srgbClr val="1B22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>
                    <a:solidFill>
                      <a:srgbClr val="1B2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MAE / 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110.47 / 133.41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MAPE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7.37%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0.207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019801" y="4761161"/>
            <a:ext cx="5577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0" i="0" dirty="0">
                <a:solidFill>
                  <a:srgbClr val="1A1A1A"/>
                </a:solidFill>
                <a:latin typeface="Times New Roman"/>
              </a:rPr>
              <a:t>▪  </a:t>
            </a:r>
            <a:r>
              <a:rPr sz="1200" b="0" i="0" dirty="0" err="1">
                <a:solidFill>
                  <a:srgbClr val="1A1A1A"/>
                </a:solidFill>
                <a:latin typeface="Times New Roman"/>
              </a:rPr>
              <a:t>VotingEnsemble</a:t>
            </a:r>
            <a:r>
              <a:rPr sz="1200" b="0" i="0" dirty="0">
                <a:solidFill>
                  <a:srgbClr val="1A1A1A"/>
                </a:solidFill>
                <a:latin typeface="Times New Roman"/>
              </a:rPr>
              <a:t> beat the next-best model (</a:t>
            </a:r>
            <a:r>
              <a:rPr sz="1200" b="0" i="0" dirty="0" err="1">
                <a:solidFill>
                  <a:srgbClr val="1A1A1A"/>
                </a:solidFill>
                <a:latin typeface="Times New Roman"/>
              </a:rPr>
              <a:t>MaxAbsScaler-ElasticNet</a:t>
            </a:r>
            <a:r>
              <a:rPr sz="1200" b="0" i="0" dirty="0">
                <a:solidFill>
                  <a:srgbClr val="1A1A1A"/>
                </a:solidFill>
                <a:latin typeface="Times New Roman"/>
              </a:rPr>
              <a:t>) by ~27%; a classical </a:t>
            </a:r>
            <a:r>
              <a:rPr sz="1200" b="0" i="0" dirty="0" err="1">
                <a:solidFill>
                  <a:srgbClr val="1A1A1A"/>
                </a:solidFill>
                <a:latin typeface="Times New Roman"/>
              </a:rPr>
              <a:t>Arimax</a:t>
            </a:r>
            <a:r>
              <a:rPr sz="1200" b="0" i="0" dirty="0">
                <a:solidFill>
                  <a:srgbClr val="1A1A1A"/>
                </a:solidFill>
                <a:latin typeface="Times New Roman"/>
              </a:rPr>
              <a:t> baseline performed only marginally better than that.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0" i="0" dirty="0">
                <a:solidFill>
                  <a:srgbClr val="1A1A1A"/>
                </a:solidFill>
                <a:latin typeface="Times New Roman"/>
              </a:rPr>
              <a:t>▪  Aggregating to 128 weekly records cut MAPE substantially versus daily, at the cost of a much lower R².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0" i="0" dirty="0">
                <a:solidFill>
                  <a:srgbClr val="1A1A1A"/>
                </a:solidFill>
                <a:latin typeface="Times New Roman"/>
              </a:rPr>
              <a:t>▪  Forecast tracks the general trend but misses the depth of the late-December trough.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Times New Roman"/>
              </a:rPr>
              <a:t>RESULTS · MONTHLY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Times New Roman"/>
              </a:rPr>
              <a:t>9 /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21792"/>
            <a:ext cx="11274552" cy="0"/>
          </a:xfrm>
          <a:prstGeom prst="line">
            <a:avLst/>
          </a:prstGeom>
          <a:ln w="1270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7315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Times New Roman"/>
              </a:rPr>
              <a:t>Monthly forecasting experiment</a:t>
            </a:r>
          </a:p>
        </p:txBody>
      </p:sp>
      <p:pic>
        <p:nvPicPr>
          <p:cNvPr id="7" name="Picture 6" descr="img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486400" cy="2094018"/>
          </a:xfrm>
          <a:prstGeom prst="rect">
            <a:avLst/>
          </a:prstGeom>
          <a:ln w="9525">
            <a:solidFill>
              <a:srgbClr val="C9C2B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33401" y="35204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Times New Roman"/>
              </a:rPr>
              <a:t>Figure 15: Monthly leaderboard, ranked by normalized RMSE</a:t>
            </a:r>
          </a:p>
        </p:txBody>
      </p:sp>
      <p:pic>
        <p:nvPicPr>
          <p:cNvPr id="9" name="Picture 8" descr="img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577840" cy="2911159"/>
          </a:xfrm>
          <a:prstGeom prst="rect">
            <a:avLst/>
          </a:prstGeom>
          <a:ln w="9525">
            <a:solidFill>
              <a:srgbClr val="C9C2B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48402" y="4493342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 dirty="0">
                <a:solidFill>
                  <a:srgbClr val="555555"/>
                </a:solidFill>
                <a:latin typeface="Times New Roman"/>
              </a:rPr>
              <a:t>Figure 16: Monthly forecast vs actual, selected validation fold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794760"/>
          <a:ext cx="5486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>
                    <a:solidFill>
                      <a:srgbClr val="1B22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>
                    <a:solidFill>
                      <a:srgbClr val="1B2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MAE / 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175.48 / 195.81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MAPE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3.44%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608870" y="5175462"/>
            <a:ext cx="5577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0" i="0" dirty="0">
                <a:solidFill>
                  <a:srgbClr val="1A1A1A"/>
                </a:solidFill>
                <a:latin typeface="Times New Roman"/>
              </a:rPr>
              <a:t>▪  Lowest MAPE of the three experiments (close to Jilani et al.'s long-term benchmark) but the lowest R², trained on only 29 records.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0" i="0" dirty="0">
                <a:solidFill>
                  <a:srgbClr val="1A1A1A"/>
                </a:solidFill>
                <a:latin typeface="Times New Roman"/>
              </a:rPr>
              <a:t>▪  A date-parsing error (day-month-year read as month-day-year) distorted the </a:t>
            </a:r>
            <a:r>
              <a:rPr sz="1200" b="0" i="0" dirty="0" err="1">
                <a:solidFill>
                  <a:srgbClr val="1A1A1A"/>
                </a:solidFill>
                <a:latin typeface="Times New Roman"/>
              </a:rPr>
              <a:t>forecast_table</a:t>
            </a:r>
            <a:r>
              <a:rPr sz="1200" b="0" i="0" dirty="0">
                <a:solidFill>
                  <a:srgbClr val="1A1A1A"/>
                </a:solidFill>
                <a:latin typeface="Times New Roman"/>
              </a:rPr>
              <a:t> chart axis  -  flagged as provisional pending a corrected re-run.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0" i="0" dirty="0">
                <a:solidFill>
                  <a:srgbClr val="1A1A1A"/>
                </a:solidFill>
                <a:latin typeface="Times New Roman"/>
              </a:rPr>
              <a:t>▪  Wider, less symmetric residuals than daily or weekly, reflecting the small training set.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Times New Roman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Times New Roman"/>
              </a:rPr>
              <a:t>10 /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21792"/>
            <a:ext cx="11274552" cy="0"/>
          </a:xfrm>
          <a:prstGeom prst="line">
            <a:avLst/>
          </a:prstGeom>
          <a:ln w="1270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7315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Times New Roman"/>
              </a:rPr>
              <a:t>The granularity trade-off (RQ2)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7455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0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0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0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06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Granularity</a:t>
                      </a:r>
                    </a:p>
                  </a:txBody>
                  <a:tcPr>
                    <a:solidFill>
                      <a:srgbClr val="1B22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Records</a:t>
                      </a:r>
                    </a:p>
                  </a:txBody>
                  <a:tcPr>
                    <a:solidFill>
                      <a:srgbClr val="1B22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Best algorithm</a:t>
                      </a:r>
                    </a:p>
                  </a:txBody>
                  <a:tcPr>
                    <a:solidFill>
                      <a:srgbClr val="1B22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MAE</a:t>
                      </a:r>
                    </a:p>
                  </a:txBody>
                  <a:tcPr>
                    <a:solidFill>
                      <a:srgbClr val="1B22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RMSE</a:t>
                      </a:r>
                    </a:p>
                  </a:txBody>
                  <a:tcPr>
                    <a:solidFill>
                      <a:srgbClr val="1B22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MAPE (%)</a:t>
                      </a:r>
                    </a:p>
                  </a:txBody>
                  <a:tcPr>
                    <a:solidFill>
                      <a:srgbClr val="1B22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R²</a:t>
                      </a:r>
                    </a:p>
                  </a:txBody>
                  <a:tcPr>
                    <a:solidFill>
                      <a:srgbClr val="1B2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Daily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882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Voting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23.63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28.30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15.08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0.758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Times New Roman"/>
                        </a:rPr>
                        <a:t>Weekly</a:t>
                      </a:r>
                    </a:p>
                  </a:txBody>
                  <a:tcPr>
                    <a:solidFill>
                      <a:srgbClr val="F0E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Times New Roman"/>
                        </a:rPr>
                        <a:t>128</a:t>
                      </a:r>
                    </a:p>
                  </a:txBody>
                  <a:tcPr>
                    <a:solidFill>
                      <a:srgbClr val="F0E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Times New Roman"/>
                        </a:rPr>
                        <a:t>Voting Ensemble</a:t>
                      </a:r>
                    </a:p>
                  </a:txBody>
                  <a:tcPr>
                    <a:solidFill>
                      <a:srgbClr val="F0E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Times New Roman"/>
                        </a:rPr>
                        <a:t>110.47</a:t>
                      </a:r>
                    </a:p>
                  </a:txBody>
                  <a:tcPr>
                    <a:solidFill>
                      <a:srgbClr val="F0E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Times New Roman"/>
                        </a:rPr>
                        <a:t>133.41</a:t>
                      </a:r>
                    </a:p>
                  </a:txBody>
                  <a:tcPr>
                    <a:solidFill>
                      <a:srgbClr val="F0E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Times New Roman"/>
                        </a:rPr>
                        <a:t>7.37</a:t>
                      </a:r>
                    </a:p>
                  </a:txBody>
                  <a:tcPr>
                    <a:solidFill>
                      <a:srgbClr val="F0E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Times New Roman"/>
                        </a:rPr>
                        <a:t>0.207</a:t>
                      </a:r>
                    </a:p>
                  </a:txBody>
                  <a:tcPr>
                    <a:solidFill>
                      <a:srgbClr val="F0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Monthly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Voting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175.48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195.81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3.44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0.139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3520440"/>
            <a:ext cx="11274552" cy="1051560"/>
          </a:xfrm>
          <a:prstGeom prst="rect">
            <a:avLst/>
          </a:prstGeom>
          <a:solidFill>
            <a:srgbClr val="1B2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ctr"/>
            <a:r>
              <a:rPr sz="1500" b="0" i="1">
                <a:solidFill>
                  <a:srgbClr val="FFFFFF"/>
                </a:solidFill>
                <a:latin typeface="Times New Roman"/>
              </a:rPr>
              <a:t>MAPE falls monotonically from daily to monthly; R² falls in the same direction. This is a sample-size effect (882 → 29 records) rather than evidence that coarser forecasts are simply ‘better’.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127455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▪  Daily: most statistically valid (highest R²), but the highest relative error.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▪  Monthly: smallest percentage error, but trained on just 29 records  -  accuracy is less robust than the headline MAPE suggests.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▪  Weekly: the most defensible balance of sample size, stability and accuracy  -  the most practically usable of the three.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Times New Roman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Times New Roman"/>
              </a:rPr>
              <a:t>11 /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21792"/>
            <a:ext cx="11274552" cy="0"/>
          </a:xfrm>
          <a:prstGeom prst="line">
            <a:avLst/>
          </a:prstGeom>
          <a:ln w="1270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7315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Times New Roman"/>
              </a:rPr>
              <a:t>Interrogating the AutoML-selected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▪  The leaderboard at every granularity includes credible alternatives  -  Arimax, Prophet, regularised linear models, tree ensembles  -  so the Voting Ensemble's edge is a measured outcome, not an assumption.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▪  Azure exports only one of five rolling-origin validation folds per experiment ('Selected cross validation: 1'), so how much accuracy varies fold-to-fold, and whether it drops around Christmas/New Year, remains an open question.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▪  A supplementary, independently run 5-fold cross-validation (daily, gradient-boosted) shows a 3x swing in MAPE between the best fold (12.56%) and the worst (56.94%, over Christmas/New Year)  -  illustrating exactly the fold-level variability Azure's single exported fold hides.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1600200"/>
          <a:ext cx="546811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7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70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Fold</a:t>
                      </a:r>
                    </a:p>
                  </a:txBody>
                  <a:tcPr>
                    <a:solidFill>
                      <a:srgbClr val="1B22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period</a:t>
                      </a:r>
                    </a:p>
                  </a:txBody>
                  <a:tcPr>
                    <a:solidFill>
                      <a:srgbClr val="1B22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MAE</a:t>
                      </a:r>
                    </a:p>
                  </a:txBody>
                  <a:tcPr>
                    <a:solidFill>
                      <a:srgbClr val="1B22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MAPE (%)</a:t>
                      </a:r>
                    </a:p>
                  </a:txBody>
                  <a:tcPr>
                    <a:solidFill>
                      <a:srgbClr val="1B2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A1A1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A1A1A"/>
                          </a:solidFill>
                          <a:latin typeface="Times New Roman"/>
                        </a:rPr>
                        <a:t>5 Aug – 3 Oct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A1A1A"/>
                          </a:solidFill>
                          <a:latin typeface="Times New Roman"/>
                        </a:rPr>
                        <a:t>19.46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A1A1A"/>
                          </a:solidFill>
                          <a:latin typeface="Times New Roman"/>
                        </a:rPr>
                        <a:t>11.76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A1A1A"/>
                          </a:solidFill>
                          <a:latin typeface="Times New Roman"/>
                        </a:rPr>
                        <a:t>2 (best)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A1A1A"/>
                          </a:solidFill>
                          <a:latin typeface="Times New Roman"/>
                        </a:rPr>
                        <a:t>4 Oct – 2 Dec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A1A1A"/>
                          </a:solidFill>
                          <a:latin typeface="Times New Roman"/>
                        </a:rPr>
                        <a:t>19.33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A1A1A"/>
                          </a:solidFill>
                          <a:latin typeface="Times New Roman"/>
                        </a:rPr>
                        <a:t>12.56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A1A1A"/>
                          </a:solidFill>
                          <a:latin typeface="Times New Roman"/>
                        </a:rPr>
                        <a:t>3 (worst)</a:t>
                      </a:r>
                    </a:p>
                  </a:txBody>
                  <a:tcPr>
                    <a:solidFill>
                      <a:srgbClr val="F0E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A1A1A"/>
                          </a:solidFill>
                          <a:latin typeface="Times New Roman"/>
                        </a:rPr>
                        <a:t>3 Dec 2025 – 31 Jan 2026</a:t>
                      </a:r>
                    </a:p>
                  </a:txBody>
                  <a:tcPr>
                    <a:solidFill>
                      <a:srgbClr val="F0E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A1A1A"/>
                          </a:solidFill>
                          <a:latin typeface="Times New Roman"/>
                        </a:rPr>
                        <a:t>40.43</a:t>
                      </a:r>
                    </a:p>
                  </a:txBody>
                  <a:tcPr>
                    <a:solidFill>
                      <a:srgbClr val="F0E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A1A1A"/>
                          </a:solidFill>
                          <a:latin typeface="Times New Roman"/>
                        </a:rPr>
                        <a:t>56.94</a:t>
                      </a:r>
                    </a:p>
                  </a:txBody>
                  <a:tcPr>
                    <a:solidFill>
                      <a:srgbClr val="F0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A1A1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A1A1A"/>
                          </a:solidFill>
                          <a:latin typeface="Times New Roman"/>
                        </a:rPr>
                        <a:t>1 Feb – 1 Apr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A1A1A"/>
                          </a:solidFill>
                          <a:latin typeface="Times New Roman"/>
                        </a:rPr>
                        <a:t>29.41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A1A1A"/>
                          </a:solidFill>
                          <a:latin typeface="Times New Roman"/>
                        </a:rPr>
                        <a:t>15.30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A1A1A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A1A1A"/>
                          </a:solidFill>
                          <a:latin typeface="Times New Roman"/>
                        </a:rPr>
                        <a:t>2 Apr – 31 May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A1A1A"/>
                          </a:solidFill>
                          <a:latin typeface="Times New Roman"/>
                        </a:rPr>
                        <a:t>22.49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A1A1A"/>
                          </a:solidFill>
                          <a:latin typeface="Times New Roman"/>
                        </a:rPr>
                        <a:t>12.31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63640" y="4389120"/>
            <a:ext cx="54681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555555"/>
                </a:solidFill>
                <a:latin typeface="Times New Roman"/>
              </a:rPr>
              <a:t>Table 4: Supplementary rolling-origin cross-validation, daily granularity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Times New Roman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Times New Roman"/>
              </a:rPr>
              <a:t>12 /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21792"/>
            <a:ext cx="11274552" cy="0"/>
          </a:xfrm>
          <a:prstGeom prst="line">
            <a:avLst/>
          </a:prstGeom>
          <a:ln w="1270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7315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Times New Roman"/>
              </a:rPr>
              <a:t>Boundaries and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25A"/>
                </a:solidFill>
                <a:latin typeface="Times New Roman"/>
              </a:rP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▪  Findings are specific to HSE data on Azure AutoML  -  not generalisable to other health systems or AutoML platforms without further testing.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▪  Monthly experiment trained on only 29 records; a true data constraint, not a design choice.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▪  Model-level feature importance was not retained by Azure; predictor evidence relies on correlation, which is weaker than model-derived importance.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▪  Fold-level consistency of the winning model could not be evaluated  -  only one of five validation folds is exported per experiment.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508760"/>
            <a:ext cx="54681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B88A3E"/>
                </a:solidFill>
                <a:latin typeface="Times New Roman"/>
              </a:rPr>
              <a:t>Recommended 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965960"/>
            <a:ext cx="54681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▪  Extract or reproduce per-fold accuracy for the Azure-selected model to test holiday-period reliability directly.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▪  Extend the weekly and monthly datasets as more HSE history becomes available, to stabilise the monthly R².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▪  Add exogenous predictors  -  public holiday flags, seasonal flu indicators, staffing levels.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▪  Repeat the daily/weekly/monthly comparison at individual hospital or hospital-group level.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Times New Roman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Times New Roman"/>
              </a:rPr>
              <a:t>13 /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21792"/>
            <a:ext cx="11274552" cy="0"/>
          </a:xfrm>
          <a:prstGeom prst="line">
            <a:avLst/>
          </a:prstGeom>
          <a:ln w="12700">
            <a:solidFill>
              <a:srgbClr val="C9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7315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Times New Roman"/>
              </a:rPr>
              <a:t>What the study establishes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5321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700784"/>
            <a:ext cx="502920" cy="502920"/>
          </a:xfrm>
          <a:prstGeom prst="rect">
            <a:avLst/>
          </a:prstGeom>
          <a:solidFill>
            <a:srgbClr val="1B2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82496"/>
            <a:ext cx="4526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Times New Roman"/>
              </a:rPr>
              <a:t>Directionally useful, not benchmark-beating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31720"/>
            <a:ext cx="51297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55555"/>
                </a:solidFill>
                <a:latin typeface="Times New Roman"/>
              </a:rPr>
              <a:t>Azure AutoML forecasts ED trolleys usefully, but no granularity reached Jilani et al.'s short-term MAPE benchmark of 2.63–4.72%.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554480"/>
            <a:ext cx="55321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64224" y="1700784"/>
            <a:ext cx="502920" cy="502920"/>
          </a:xfrm>
          <a:prstGeom prst="rect">
            <a:avLst/>
          </a:prstGeom>
          <a:solidFill>
            <a:srgbClr val="1B2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2592" y="1682496"/>
            <a:ext cx="4526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Times New Roman"/>
              </a:rPr>
              <a:t>Granularity is a trade-off, not a hierarchy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31720"/>
            <a:ext cx="51297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55555"/>
                </a:solidFill>
                <a:latin typeface="Times New Roman"/>
              </a:rPr>
              <a:t>MAPE improves and R² worsens together from daily to monthly  -  a sample-size effect, not proof that coarser is better.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94760"/>
            <a:ext cx="55321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" y="3941064"/>
            <a:ext cx="502920" cy="502920"/>
          </a:xfrm>
          <a:prstGeom prst="rect">
            <a:avLst/>
          </a:prstGeom>
          <a:solidFill>
            <a:srgbClr val="1B2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922776"/>
            <a:ext cx="4526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Times New Roman"/>
              </a:rPr>
              <a:t>Weekly is the most defensible choice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572000"/>
            <a:ext cx="51297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55555"/>
                </a:solidFill>
                <a:latin typeface="Times New Roman"/>
              </a:rPr>
              <a:t>The best balance of accuracy, stability and sample size for real hospital capacity planning.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3794760"/>
            <a:ext cx="55321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64224" y="3941064"/>
            <a:ext cx="502920" cy="502920"/>
          </a:xfrm>
          <a:prstGeom prst="rect">
            <a:avLst/>
          </a:prstGeom>
          <a:solidFill>
            <a:srgbClr val="1B2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2592" y="3922776"/>
            <a:ext cx="4526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Times New Roman"/>
              </a:rPr>
              <a:t>An AutoML model is a starting 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572000"/>
            <a:ext cx="5129784" cy="4521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 dirty="0">
                <a:solidFill>
                  <a:srgbClr val="555555"/>
                </a:solidFill>
                <a:latin typeface="Times New Roman"/>
              </a:rPr>
              <a:t>Leaderboard alternatives, fold-level consistency and platform quirks all need interrogation  -  not just the headline metric.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0D495A-372D-89BA-E3A9-59D7EBD9FF27}"/>
              </a:ext>
            </a:extLst>
          </p:cNvPr>
          <p:cNvSpPr txBox="1"/>
          <p:nvPr/>
        </p:nvSpPr>
        <p:spPr>
          <a:xfrm>
            <a:off x="3316224" y="6125171"/>
            <a:ext cx="6096000" cy="732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</a:pP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Practically, forecast weekly by default, widen error margins around holidays, and use trolley forecasts alongside other pressure indicators rather than as a stand-alone predictor.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48640" y="1463040"/>
            <a:ext cx="11064240" cy="0"/>
          </a:xfrm>
          <a:prstGeom prst="line">
            <a:avLst/>
          </a:prstGeom>
          <a:ln w="12700">
            <a:solidFill>
              <a:srgbClr val="B88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274320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Times New Roman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10642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endParaRPr sz="1800" b="0" i="1" dirty="0">
              <a:solidFill>
                <a:srgbClr val="FFFFFF"/>
              </a:solidFill>
              <a:latin typeface="Times New Roman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5029200"/>
            <a:ext cx="11064240" cy="0"/>
          </a:xfrm>
          <a:prstGeom prst="line">
            <a:avLst/>
          </a:prstGeom>
          <a:ln w="12700">
            <a:solidFill>
              <a:srgbClr val="B88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5166360"/>
            <a:ext cx="1106424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endParaRPr sz="1300" b="0" i="0" dirty="0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Pages>6</Pages>
  <Words>1930</Words>
  <Application>Microsoft Office PowerPoint</Application>
  <PresentationFormat>Widescreen</PresentationFormat>
  <Paragraphs>221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paravasthurohan2003@outlook.com</cp:lastModifiedBy>
  <cp:revision>12</cp:revision>
  <dcterms:created xsi:type="dcterms:W3CDTF">2026-08-24T07:54:01Z</dcterms:created>
  <dcterms:modified xsi:type="dcterms:W3CDTF">2026-09-02T20:35:55Z</dcterms:modified>
  <cp:category/>
</cp:coreProperties>
</file>